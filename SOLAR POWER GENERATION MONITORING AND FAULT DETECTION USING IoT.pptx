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57" r:id="rId2"/>
    <p:sldId id="259" r:id="rId3"/>
    <p:sldId id="260" r:id="rId4"/>
    <p:sldId id="266" r:id="rId5"/>
    <p:sldId id="261" r:id="rId6"/>
    <p:sldId id="267" r:id="rId7"/>
    <p:sldId id="270"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02"/>
  </p:normalViewPr>
  <p:slideViewPr>
    <p:cSldViewPr snapToGrid="0" snapToObjects="1" showGuides="1">
      <p:cViewPr varScale="1">
        <p:scale>
          <a:sx n="78" d="100"/>
          <a:sy n="78"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a:defRPr>
            </a:lvl1pPr>
          </a:lstStyle>
          <a:p>
            <a:fld id="{0239D73C-AF14-7643-8BC7-209F4FB10DDF}" type="datetimeFigureOut">
              <a:rPr lang="en-US" smtClean="0"/>
              <a:pPr/>
              <a:t>8/31/2026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a:defRPr>
            </a:lvl1pPr>
          </a:lstStyle>
          <a:p>
            <a:fld id="{F52A25F9-16D3-E64A-8639-7B020C319E7B}" type="slidenum">
              <a:rPr lang="en-US" smtClean="0"/>
              <a:pPr/>
              <a:t>‹#›</a:t>
            </a:fld>
            <a:endParaRPr lang="en-US" dirty="0"/>
          </a:p>
        </p:txBody>
      </p:sp>
    </p:spTree>
    <p:extLst>
      <p:ext uri="{BB962C8B-B14F-4D97-AF65-F5344CB8AC3E}">
        <p14:creationId xmlns:p14="http://schemas.microsoft.com/office/powerpoint/2010/main" val="1908973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a:ea typeface="+mn-ea"/>
        <a:cs typeface="+mn-cs"/>
      </a:defRPr>
    </a:lvl1pPr>
    <a:lvl2pPr marL="457200" algn="l" defTabSz="914400" rtl="0" eaLnBrk="1" latinLnBrk="0" hangingPunct="1">
      <a:defRPr sz="1200" b="0" i="0" kern="1200">
        <a:solidFill>
          <a:schemeClr val="tx1"/>
        </a:solidFill>
        <a:latin typeface="Arial Regular"/>
        <a:ea typeface="+mn-ea"/>
        <a:cs typeface="+mn-cs"/>
      </a:defRPr>
    </a:lvl2pPr>
    <a:lvl3pPr marL="914400" algn="l" defTabSz="914400" rtl="0" eaLnBrk="1" latinLnBrk="0" hangingPunct="1">
      <a:defRPr sz="1200" b="0" i="0" kern="1200">
        <a:solidFill>
          <a:schemeClr val="tx1"/>
        </a:solidFill>
        <a:latin typeface="Arial Regular"/>
        <a:ea typeface="+mn-ea"/>
        <a:cs typeface="+mn-cs"/>
      </a:defRPr>
    </a:lvl3pPr>
    <a:lvl4pPr marL="1371600" algn="l" defTabSz="914400" rtl="0" eaLnBrk="1" latinLnBrk="0" hangingPunct="1">
      <a:defRPr sz="1200" b="0" i="0" kern="1200">
        <a:solidFill>
          <a:schemeClr val="tx1"/>
        </a:solidFill>
        <a:latin typeface="Arial Regular"/>
        <a:ea typeface="+mn-ea"/>
        <a:cs typeface="+mn-cs"/>
      </a:defRPr>
    </a:lvl4pPr>
    <a:lvl5pPr marL="1828800" algn="l" defTabSz="914400" rtl="0" eaLnBrk="1" latinLnBrk="0" hangingPunct="1">
      <a:defRPr sz="1200" b="0" i="0" kern="1200">
        <a:solidFill>
          <a:schemeClr val="tx1"/>
        </a:solidFill>
        <a:latin typeface="Arial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Georgia" charset="0"/>
                <a:ea typeface="Georgia" charset="0"/>
                <a:cs typeface="Georgia"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Presentation</a:t>
            </a:r>
            <a:br>
              <a:rPr lang="en-US" dirty="0"/>
            </a:br>
            <a:r>
              <a:rPr lang="en-US" dirty="0"/>
              <a:t>Title</a:t>
            </a:r>
          </a:p>
        </p:txBody>
      </p:sp>
      <p:pic>
        <p:nvPicPr>
          <p:cNvPr id="8" name="Picture 7" descr="University at Buffalo, The State University of New York logo">
            <a:extLst>
              <a:ext uri="{FF2B5EF4-FFF2-40B4-BE49-F238E27FC236}">
                <a16:creationId xmlns:a16="http://schemas.microsoft.com/office/drawing/2014/main" id="{9C7DE7FF-FD86-434E-91D5-DF1AA23EE75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400" y="6041226"/>
            <a:ext cx="4800600" cy="356029"/>
          </a:xfrm>
          <a:prstGeom prst="rect">
            <a:avLst/>
          </a:prstGeom>
        </p:spPr>
      </p:pic>
    </p:spTree>
    <p:extLst>
      <p:ext uri="{BB962C8B-B14F-4D97-AF65-F5344CB8AC3E}">
        <p14:creationId xmlns:p14="http://schemas.microsoft.com/office/powerpoint/2010/main" val="382541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charset="0"/>
                <a:ea typeface="Arial" charset="0"/>
                <a:cs typeface="Arial"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Autofit/>
          </a:bodyPr>
          <a:lstStyle>
            <a:lvl1pPr marL="0" indent="0" algn="l">
              <a:buNone/>
              <a:defRPr sz="2800" b="0" baseline="0">
                <a:solidFill>
                  <a:schemeClr val="bg1"/>
                </a:solidFill>
                <a:latin typeface="Georgia" charset="0"/>
                <a:ea typeface="Georgia" charset="0"/>
                <a:cs typeface="Georgi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Tree>
    <p:extLst>
      <p:ext uri="{BB962C8B-B14F-4D97-AF65-F5344CB8AC3E}">
        <p14:creationId xmlns:p14="http://schemas.microsoft.com/office/powerpoint/2010/main" val="252752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1E420E5-CF10-E744-8836-DA131F3DFECE}"/>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91240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4A51F46-BA21-2546-AE85-93B56EC06187}"/>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083219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Doubl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2B2E-D090-724F-8681-FBE0CDA2F117}"/>
              </a:ext>
            </a:extLst>
          </p:cNvPr>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E559530-982F-0F4F-B296-9DB2F44D8051}"/>
              </a:ext>
            </a:extLst>
          </p:cNvPr>
          <p:cNvSpPr>
            <a:spLocks noGrp="1"/>
          </p:cNvSpPr>
          <p:nvPr>
            <p:ph sz="half" idx="1"/>
          </p:nvPr>
        </p:nvSpPr>
        <p:spPr>
          <a:xfrm>
            <a:off x="566928" y="2185416"/>
            <a:ext cx="4500372" cy="3948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0367C6-4AC8-9C47-BDFA-A5613CF90E15}"/>
              </a:ext>
            </a:extLst>
          </p:cNvPr>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FC1A3F1F-FF47-0844-82BA-F475FCD0AAB6}"/>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49946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5C1-32E2-374C-809B-D54BEC11EB3F}"/>
              </a:ext>
            </a:extLst>
          </p:cNvPr>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a:extLst>
              <a:ext uri="{FF2B5EF4-FFF2-40B4-BE49-F238E27FC236}">
                <a16:creationId xmlns:a16="http://schemas.microsoft.com/office/drawing/2014/main" id="{9798817A-73B4-F340-8D0E-FB813E55F799}"/>
              </a:ext>
            </a:extLst>
          </p:cNvPr>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B5126641-0094-3D49-865E-3DB9ECAC43C4}"/>
              </a:ext>
            </a:extLst>
          </p:cNvPr>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6E11705-25F9-194A-9D2F-C9FEEA3A5744}"/>
              </a:ext>
            </a:extLst>
          </p:cNvPr>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D978716-6004-6344-B5D2-C780B062C9CF}"/>
              </a:ext>
            </a:extLst>
          </p:cNvPr>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BCA91F9-8796-3D42-B75E-9C7F7D9B7352}"/>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374844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A2439-3BDA-DB47-AA02-5590274D40F8}"/>
              </a:ext>
            </a:extLst>
          </p:cNvPr>
          <p:cNvSpPr>
            <a:spLocks noGrp="1"/>
          </p:cNvSpPr>
          <p:nvPr>
            <p:ph type="title"/>
          </p:nvPr>
        </p:nvSpPr>
        <p:spPr/>
        <p:txBody>
          <a:bodyPr>
            <a:spAutoFit/>
          </a:bodyPr>
          <a:lstStyle/>
          <a:p>
            <a:r>
              <a:rPr lang="en-US" dirty="0"/>
              <a:t>Click to edit Master title style</a:t>
            </a:r>
          </a:p>
        </p:txBody>
      </p:sp>
      <p:sp>
        <p:nvSpPr>
          <p:cNvPr id="4" name="Footer Placeholder 3">
            <a:extLst>
              <a:ext uri="{FF2B5EF4-FFF2-40B4-BE49-F238E27FC236}">
                <a16:creationId xmlns:a16="http://schemas.microsoft.com/office/drawing/2014/main" id="{19A2EBF7-C6C5-4541-B47E-7FB413A3DF8C}"/>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1209253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613847-6053-FF4A-A422-D886A866F53F}"/>
              </a:ext>
            </a:extLst>
          </p:cNvPr>
          <p:cNvSpPr>
            <a:spLocks noGrp="1"/>
          </p:cNvSpPr>
          <p:nvPr>
            <p:ph type="ftr" sz="quarter" idx="10"/>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42510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DC6EF38F-8DF7-3941-B22C-502232E4CB0B}"/>
              </a:ext>
            </a:extLst>
          </p:cNvPr>
          <p:cNvSpPr>
            <a:spLocks noGrp="1" noChangeAspect="1"/>
          </p:cNvSpPr>
          <p:nvPr>
            <p:ph type="pic" idx="13"/>
          </p:nvPr>
        </p:nvSpPr>
        <p:spPr>
          <a:xfrm>
            <a:off x="5098566" y="927100"/>
            <a:ext cx="7093434"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D8C17C1-D75E-7F4A-895D-15D9E2D1D38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1616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a:extLst>
              <a:ext uri="{FF2B5EF4-FFF2-40B4-BE49-F238E27FC236}">
                <a16:creationId xmlns:a16="http://schemas.microsoft.com/office/drawing/2014/main" id="{0CAA554F-B37C-9E47-B5E4-82235D4EC6CD}"/>
              </a:ext>
            </a:extLst>
          </p:cNvPr>
          <p:cNvSpPr>
            <a:spLocks noGrp="1" noChangeAspect="1"/>
          </p:cNvSpPr>
          <p:nvPr>
            <p:ph type="pic" idx="13"/>
          </p:nvPr>
        </p:nvSpPr>
        <p:spPr>
          <a:xfrm>
            <a:off x="5114631" y="934720"/>
            <a:ext cx="7077369" cy="306467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8" name="Picture Placeholder 2">
            <a:extLst>
              <a:ext uri="{FF2B5EF4-FFF2-40B4-BE49-F238E27FC236}">
                <a16:creationId xmlns:a16="http://schemas.microsoft.com/office/drawing/2014/main" id="{9F5FDDA2-E7AF-294B-ACDF-BDB5997277BC}"/>
              </a:ext>
            </a:extLst>
          </p:cNvPr>
          <p:cNvSpPr>
            <a:spLocks noGrp="1" noChangeAspect="1"/>
          </p:cNvSpPr>
          <p:nvPr>
            <p:ph type="pic" idx="14"/>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9" name="Picture Placeholder 2">
            <a:extLst>
              <a:ext uri="{FF2B5EF4-FFF2-40B4-BE49-F238E27FC236}">
                <a16:creationId xmlns:a16="http://schemas.microsoft.com/office/drawing/2014/main" id="{F2499D1A-BF4E-8444-BF94-86863CA11648}"/>
              </a:ext>
            </a:extLst>
          </p:cNvPr>
          <p:cNvSpPr>
            <a:spLocks noGrp="1" noChangeAspect="1"/>
          </p:cNvSpPr>
          <p:nvPr>
            <p:ph type="pic" idx="15"/>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10" name="Footer Placeholder 9">
            <a:extLst>
              <a:ext uri="{FF2B5EF4-FFF2-40B4-BE49-F238E27FC236}">
                <a16:creationId xmlns:a16="http://schemas.microsoft.com/office/drawing/2014/main" id="{2F90DAFF-101D-E948-A7EE-D57686CEB2DD}"/>
              </a:ext>
            </a:extLst>
          </p:cNvPr>
          <p:cNvSpPr>
            <a:spLocks noGrp="1"/>
          </p:cNvSpPr>
          <p:nvPr>
            <p:ph type="ftr" sz="quarter" idx="16"/>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54085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47F2-B572-1341-97A2-03F799FC1CDE}"/>
              </a:ext>
            </a:extLst>
          </p:cNvPr>
          <p:cNvSpPr>
            <a:spLocks noGrp="1"/>
          </p:cNvSpPr>
          <p:nvPr>
            <p:ph type="title"/>
          </p:nvPr>
        </p:nvSpPr>
        <p:spPr/>
        <p:txBody>
          <a:bodyPr/>
          <a:lstStyle/>
          <a:p>
            <a:r>
              <a:rPr lang="en-US" dirty="0"/>
              <a:t>Click to edit</a:t>
            </a:r>
          </a:p>
        </p:txBody>
      </p:sp>
      <p:sp>
        <p:nvSpPr>
          <p:cNvPr id="3" name="Picture Placeholder 2">
            <a:extLst>
              <a:ext uri="{FF2B5EF4-FFF2-40B4-BE49-F238E27FC236}">
                <a16:creationId xmlns:a16="http://schemas.microsoft.com/office/drawing/2014/main" id="{CB21EA68-2B0A-7648-9710-0081FFDD7D68}"/>
              </a:ext>
            </a:extLst>
          </p:cNvPr>
          <p:cNvSpPr>
            <a:spLocks noGrp="1" noChangeAspect="1"/>
          </p:cNvSpPr>
          <p:nvPr>
            <p:ph type="pic" idx="13"/>
          </p:nvPr>
        </p:nvSpPr>
        <p:spPr>
          <a:xfrm>
            <a:off x="0" y="927100"/>
            <a:ext cx="12192000"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charset="0"/>
                <a:ea typeface="Arial" charset="0"/>
                <a:cs typeface="Arial"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a:p>
            <a:r>
              <a:rPr lang="en-US" dirty="0"/>
              <a:t>Drag picture to placeholder or click icon to add</a:t>
            </a:r>
          </a:p>
        </p:txBody>
      </p:sp>
      <p:sp>
        <p:nvSpPr>
          <p:cNvPr id="5" name="Footer Placeholder 4">
            <a:extLst>
              <a:ext uri="{FF2B5EF4-FFF2-40B4-BE49-F238E27FC236}">
                <a16:creationId xmlns:a16="http://schemas.microsoft.com/office/drawing/2014/main" id="{7D1C2F5B-0BEC-1B48-AF19-F70CBF88DDD2}"/>
              </a:ext>
            </a:extLst>
          </p:cNvPr>
          <p:cNvSpPr>
            <a:spLocks noGrp="1"/>
          </p:cNvSpPr>
          <p:nvPr>
            <p:ph type="ftr" sz="quarter" idx="14"/>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760458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049F-7F34-5D48-8F72-755B85F3E737}"/>
              </a:ext>
            </a:extLst>
          </p:cNvPr>
          <p:cNvSpPr>
            <a:spLocks noGrp="1"/>
          </p:cNvSpPr>
          <p:nvPr>
            <p:ph type="title"/>
          </p:nvPr>
        </p:nvSpPr>
        <p:spPr>
          <a:xfrm>
            <a:off x="566928" y="1499616"/>
            <a:ext cx="4248912" cy="590931"/>
          </a:xfrm>
        </p:spPr>
        <p:txBody>
          <a:bodyPr/>
          <a:lstStyle/>
          <a:p>
            <a:r>
              <a:rPr lang="en-US" dirty="0"/>
              <a:t>Click to edit</a:t>
            </a:r>
          </a:p>
        </p:txBody>
      </p:sp>
      <p:sp>
        <p:nvSpPr>
          <p:cNvPr id="3" name="Content Placeholder 2">
            <a:extLst>
              <a:ext uri="{FF2B5EF4-FFF2-40B4-BE49-F238E27FC236}">
                <a16:creationId xmlns:a16="http://schemas.microsoft.com/office/drawing/2014/main" id="{5EC46810-DD61-C649-9461-59FA66CD210E}"/>
              </a:ext>
            </a:extLst>
          </p:cNvPr>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a:extLst>
              <a:ext uri="{FF2B5EF4-FFF2-40B4-BE49-F238E27FC236}">
                <a16:creationId xmlns:a16="http://schemas.microsoft.com/office/drawing/2014/main" id="{7B782143-2792-E14B-AE51-0FFA9028EB8A}"/>
              </a:ext>
            </a:extLst>
          </p:cNvPr>
          <p:cNvSpPr>
            <a:spLocks noGrp="1"/>
          </p:cNvSpPr>
          <p:nvPr>
            <p:ph type="chart" sz="quarter" idx="16"/>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aseline="0">
                <a:solidFill>
                  <a:schemeClr val="bg1"/>
                </a:solidFill>
                <a:latin typeface="Arial" charset="0"/>
                <a:ea typeface="Arial" charset="0"/>
                <a:cs typeface="Arial" charset="0"/>
              </a:defRPr>
            </a:lvl1pPr>
          </a:lstStyle>
          <a:p>
            <a:endParaRPr lang="en-US" dirty="0"/>
          </a:p>
          <a:p>
            <a:r>
              <a:rPr lang="en-US" dirty="0"/>
              <a:t>Drag chart to placeholder or click icon to add chart</a:t>
            </a:r>
          </a:p>
          <a:p>
            <a:endParaRPr lang="en-US" dirty="0"/>
          </a:p>
        </p:txBody>
      </p:sp>
      <p:sp>
        <p:nvSpPr>
          <p:cNvPr id="8" name="Footer Placeholder 7">
            <a:extLst>
              <a:ext uri="{FF2B5EF4-FFF2-40B4-BE49-F238E27FC236}">
                <a16:creationId xmlns:a16="http://schemas.microsoft.com/office/drawing/2014/main" id="{EEFBFC18-7AE9-1C44-9039-61F804A6140A}"/>
              </a:ext>
            </a:extLst>
          </p:cNvPr>
          <p:cNvSpPr>
            <a:spLocks noGrp="1"/>
          </p:cNvSpPr>
          <p:nvPr>
            <p:ph type="ftr" sz="quarter" idx="17"/>
          </p:nvPr>
        </p:nvSpPr>
        <p:spPr/>
        <p:txBody>
          <a:body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612494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614BA-85C5-BA49-A402-F7BCCCDB2C4F}"/>
              </a:ext>
            </a:extLst>
          </p:cNvPr>
          <p:cNvSpPr>
            <a:spLocks noGrp="1"/>
          </p:cNvSpPr>
          <p:nvPr>
            <p:ph type="title"/>
          </p:nvPr>
        </p:nvSpPr>
        <p:spPr>
          <a:xfrm>
            <a:off x="566928" y="1499616"/>
            <a:ext cx="10515600" cy="590931"/>
          </a:xfrm>
          <a:prstGeom prst="rect">
            <a:avLst/>
          </a:prstGeom>
        </p:spPr>
        <p:txBody>
          <a:bodyPr vert="horz" lIns="91440" tIns="45720" rIns="91440" bIns="45720" rtlCol="0" anchor="b"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6A66ADF-AEA5-DC4B-841D-168372B891D6}"/>
              </a:ext>
            </a:extLst>
          </p:cNvPr>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University at Buffalo, The State University of New York logo">
            <a:extLst>
              <a:ext uri="{FF2B5EF4-FFF2-40B4-BE49-F238E27FC236}">
                <a16:creationId xmlns:a16="http://schemas.microsoft.com/office/drawing/2014/main" id="{27B0F206-4721-B742-B71F-C0AADA23A98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
        <p:nvSpPr>
          <p:cNvPr id="5" name="Footer Placeholder 4">
            <a:extLst>
              <a:ext uri="{FF2B5EF4-FFF2-40B4-BE49-F238E27FC236}">
                <a16:creationId xmlns:a16="http://schemas.microsoft.com/office/drawing/2014/main" id="{0BD4790E-48FE-324B-A4AD-34E3A7792E59}"/>
              </a:ext>
            </a:extLst>
          </p:cNvPr>
          <p:cNvSpPr>
            <a:spLocks noGrp="1"/>
          </p:cNvSpPr>
          <p:nvPr>
            <p:ph type="ftr" sz="quarter" idx="3"/>
          </p:nvPr>
        </p:nvSpPr>
        <p:spPr>
          <a:xfrm>
            <a:off x="7574280" y="6319774"/>
            <a:ext cx="4114800" cy="365125"/>
          </a:xfrm>
          <a:prstGeom prst="rect">
            <a:avLst/>
          </a:prstGeom>
        </p:spPr>
        <p:txBody>
          <a:bodyPr vert="horz" lIns="91440" tIns="45720" rIns="91440" bIns="45720" rtlCol="0" anchor="ctr"/>
          <a:lstStyle>
            <a:lvl1pPr algn="r">
              <a:defRPr sz="1600" b="1">
                <a:solidFill>
                  <a:schemeClr val="tx1"/>
                </a:solidFill>
              </a:defRPr>
            </a:lvl1pPr>
          </a:lstStyle>
          <a:p>
            <a:fld id="{EB53C135-CEC6-A548-8917-8F7FEB82358B}" type="slidenum">
              <a:rPr lang="en-US" smtClean="0"/>
              <a:pPr/>
              <a:t>‹#›</a:t>
            </a:fld>
            <a:endParaRPr lang="en-US" dirty="0"/>
          </a:p>
        </p:txBody>
      </p:sp>
    </p:spTree>
    <p:extLst>
      <p:ext uri="{BB962C8B-B14F-4D97-AF65-F5344CB8AC3E}">
        <p14:creationId xmlns:p14="http://schemas.microsoft.com/office/powerpoint/2010/main" val="29379714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0" r:id="rId3"/>
    <p:sldLayoutId id="2147483664" r:id="rId4"/>
    <p:sldLayoutId id="2147483652" r:id="rId5"/>
    <p:sldLayoutId id="2147483653" r:id="rId6"/>
    <p:sldLayoutId id="2147483654" r:id="rId7"/>
    <p:sldLayoutId id="2147483655" r:id="rId8"/>
    <p:sldLayoutId id="2147483665" r:id="rId9"/>
    <p:sldLayoutId id="2147483666" r:id="rId10"/>
    <p:sldLayoutId id="2147483660" r:id="rId11"/>
    <p:sldLayoutId id="2147483667" r:id="rId12"/>
  </p:sldLayoutIdLst>
  <p:hf hd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esentation Title">
            <a:extLst>
              <a:ext uri="{FF2B5EF4-FFF2-40B4-BE49-F238E27FC236}">
                <a16:creationId xmlns:a16="http://schemas.microsoft.com/office/drawing/2014/main" id="{1089AC9A-5D7D-5A4C-8605-7607252D4FA1}"/>
              </a:ext>
            </a:extLst>
          </p:cNvPr>
          <p:cNvSpPr>
            <a:spLocks noGrp="1"/>
          </p:cNvSpPr>
          <p:nvPr>
            <p:ph type="ctrTitle"/>
          </p:nvPr>
        </p:nvSpPr>
        <p:spPr>
          <a:xfrm>
            <a:off x="245806" y="1156445"/>
            <a:ext cx="6902246" cy="4151201"/>
          </a:xfrm>
        </p:spPr>
        <p:txBody>
          <a:bodyPr/>
          <a:lstStyle/>
          <a:p>
            <a:r>
              <a:rPr lang="en-US" dirty="0"/>
              <a:t>SOLAR POWER GENERATION MONITORING AND FAULT DETECTION USING IoT</a:t>
            </a:r>
          </a:p>
        </p:txBody>
      </p:sp>
      <p:sp>
        <p:nvSpPr>
          <p:cNvPr id="8" name="Rectangle 7">
            <a:extLst>
              <a:ext uri="{FF2B5EF4-FFF2-40B4-BE49-F238E27FC236}">
                <a16:creationId xmlns:a16="http://schemas.microsoft.com/office/drawing/2014/main" id="{E47CE931-39E1-850E-41A2-9B323EFA2783}"/>
              </a:ext>
            </a:extLst>
          </p:cNvPr>
          <p:cNvSpPr/>
          <p:nvPr/>
        </p:nvSpPr>
        <p:spPr>
          <a:xfrm>
            <a:off x="6925519" y="1015678"/>
            <a:ext cx="5266481" cy="5842322"/>
          </a:xfrm>
          <a:prstGeom prst="rect">
            <a:avLst/>
          </a:prstGeom>
          <a:solidFill>
            <a:schemeClr val="accent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Knowledge Institute of Technology – Salem Tamilnadu">
            <a:extLst>
              <a:ext uri="{FF2B5EF4-FFF2-40B4-BE49-F238E27FC236}">
                <a16:creationId xmlns:a16="http://schemas.microsoft.com/office/drawing/2014/main" id="{738880D4-E34B-E552-59E7-F03949CCE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3580" y="1492067"/>
            <a:ext cx="3479958" cy="347995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F1A4ABE-3FDA-6EFC-91AC-72D2BF3BD196}"/>
              </a:ext>
            </a:extLst>
          </p:cNvPr>
          <p:cNvSpPr/>
          <p:nvPr/>
        </p:nvSpPr>
        <p:spPr>
          <a:xfrm>
            <a:off x="52550" y="5924991"/>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spTree>
    <p:extLst>
      <p:ext uri="{BB962C8B-B14F-4D97-AF65-F5344CB8AC3E}">
        <p14:creationId xmlns:p14="http://schemas.microsoft.com/office/powerpoint/2010/main" val="40781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6EFFE0B3-6566-3F48-9291-A6A8E30E2D62}"/>
              </a:ext>
            </a:extLst>
          </p:cNvPr>
          <p:cNvSpPr>
            <a:spLocks noGrp="1"/>
          </p:cNvSpPr>
          <p:nvPr>
            <p:ph type="title"/>
          </p:nvPr>
        </p:nvSpPr>
        <p:spPr>
          <a:xfrm>
            <a:off x="566927" y="1234125"/>
            <a:ext cx="10582853" cy="978729"/>
          </a:xfrm>
        </p:spPr>
        <p:txBody>
          <a:bodyPr/>
          <a:lstStyle/>
          <a:p>
            <a:r>
              <a:rPr lang="en-IN" sz="3200" dirty="0"/>
              <a:t>SOLAR POWER GENERATION MONITORING AND FAULT DETECTION USING IoT</a:t>
            </a:r>
            <a:endParaRPr lang="en-US" sz="3200" dirty="0"/>
          </a:p>
        </p:txBody>
      </p:sp>
      <p:sp>
        <p:nvSpPr>
          <p:cNvPr id="16" name="Slide Number">
            <a:extLst>
              <a:ext uri="{FF2B5EF4-FFF2-40B4-BE49-F238E27FC236}">
                <a16:creationId xmlns:a16="http://schemas.microsoft.com/office/drawing/2014/main" id="{4603F0F3-CF76-774D-86D8-DB88B362524A}"/>
              </a:ext>
            </a:extLst>
          </p:cNvPr>
          <p:cNvSpPr>
            <a:spLocks noGrp="1"/>
          </p:cNvSpPr>
          <p:nvPr>
            <p:ph type="ftr" sz="quarter" idx="10"/>
          </p:nvPr>
        </p:nvSpPr>
        <p:spPr/>
        <p:txBody>
          <a:bodyPr/>
          <a:lstStyle/>
          <a:p>
            <a:fld id="{2E1B3BED-EDDA-2E42-813F-F157009AF3C2}" type="slidenum">
              <a:rPr lang="en-US" smtClean="0"/>
              <a:t>2</a:t>
            </a:fld>
            <a:endParaRPr lang="en-US" dirty="0"/>
          </a:p>
        </p:txBody>
      </p:sp>
      <p:sp>
        <p:nvSpPr>
          <p:cNvPr id="9" name="Content Placeholder 8">
            <a:extLst>
              <a:ext uri="{FF2B5EF4-FFF2-40B4-BE49-F238E27FC236}">
                <a16:creationId xmlns:a16="http://schemas.microsoft.com/office/drawing/2014/main" id="{4D6A913C-1F80-C2E7-2C11-FAC7D7E5E2BC}"/>
              </a:ext>
            </a:extLst>
          </p:cNvPr>
          <p:cNvSpPr>
            <a:spLocks noGrp="1"/>
          </p:cNvSpPr>
          <p:nvPr>
            <p:ph idx="1"/>
          </p:nvPr>
        </p:nvSpPr>
        <p:spPr>
          <a:xfrm>
            <a:off x="566927" y="2199877"/>
            <a:ext cx="10799411" cy="4289413"/>
          </a:xfrm>
        </p:spPr>
        <p:txBody>
          <a:bodyPr/>
          <a:lstStyle/>
          <a:p>
            <a:pPr marL="0" indent="0">
              <a:buNone/>
            </a:pPr>
            <a:r>
              <a:rPr lang="en-IN" b="1" dirty="0"/>
              <a:t>Smart Solar Power Monitoring System</a:t>
            </a:r>
          </a:p>
          <a:p>
            <a:pPr lvl="0">
              <a:lnSpc>
                <a:spcPct val="200000"/>
              </a:lnSpc>
            </a:pPr>
            <a:r>
              <a:rPr lang="en-IN" b="1" dirty="0"/>
              <a:t>Real-time monitoring</a:t>
            </a:r>
            <a:r>
              <a:rPr lang="en-IN" dirty="0"/>
              <a:t> of solar panel performance. </a:t>
            </a:r>
          </a:p>
          <a:p>
            <a:pPr lvl="0">
              <a:lnSpc>
                <a:spcPct val="200000"/>
              </a:lnSpc>
            </a:pPr>
            <a:r>
              <a:rPr lang="en-IN" b="1" dirty="0"/>
              <a:t>Voltage and current measurement</a:t>
            </a:r>
            <a:r>
              <a:rPr lang="en-IN" dirty="0"/>
              <a:t> for power generation analysis. </a:t>
            </a:r>
          </a:p>
          <a:p>
            <a:pPr lvl="0">
              <a:lnSpc>
                <a:spcPct val="200000"/>
              </a:lnSpc>
            </a:pPr>
            <a:r>
              <a:rPr lang="en-IN" b="1" dirty="0"/>
              <a:t>Automatic fault detection</a:t>
            </a:r>
            <a:r>
              <a:rPr lang="en-IN" dirty="0"/>
              <a:t> during abnormal operating conditions. </a:t>
            </a:r>
          </a:p>
          <a:p>
            <a:pPr lvl="0">
              <a:lnSpc>
                <a:spcPct val="200000"/>
              </a:lnSpc>
            </a:pPr>
            <a:r>
              <a:rPr lang="en-IN" b="1" dirty="0"/>
              <a:t>IoT-based remote monitoring</a:t>
            </a:r>
            <a:r>
              <a:rPr lang="en-IN" dirty="0"/>
              <a:t> through a connected dashboard. </a:t>
            </a:r>
          </a:p>
          <a:p>
            <a:pPr lvl="0">
              <a:lnSpc>
                <a:spcPct val="200000"/>
              </a:lnSpc>
            </a:pPr>
            <a:r>
              <a:rPr lang="en-IN" b="1" dirty="0"/>
              <a:t>Instant alerts</a:t>
            </a:r>
            <a:r>
              <a:rPr lang="en-IN" dirty="0"/>
              <a:t> to improve solar system reliability and maintenance.</a:t>
            </a:r>
          </a:p>
          <a:p>
            <a:pPr marL="0" indent="0" algn="just">
              <a:buNone/>
            </a:pPr>
            <a:endParaRPr lang="en-IN" dirty="0"/>
          </a:p>
        </p:txBody>
      </p:sp>
      <p:sp>
        <p:nvSpPr>
          <p:cNvPr id="10" name="Rectangle 9">
            <a:extLst>
              <a:ext uri="{FF2B5EF4-FFF2-40B4-BE49-F238E27FC236}">
                <a16:creationId xmlns:a16="http://schemas.microsoft.com/office/drawing/2014/main" id="{8C0A6794-0D44-2C2B-8DDD-F20A931F4B30}"/>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a:extLst>
              <a:ext uri="{FF2B5EF4-FFF2-40B4-BE49-F238E27FC236}">
                <a16:creationId xmlns:a16="http://schemas.microsoft.com/office/drawing/2014/main" id="{109FAC87-EA26-5E89-32E8-FD96E222C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0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3BEC0A6-A5CE-914E-9A9E-BB0E40137093}"/>
              </a:ext>
            </a:extLst>
          </p:cNvPr>
          <p:cNvSpPr>
            <a:spLocks noGrp="1"/>
          </p:cNvSpPr>
          <p:nvPr>
            <p:ph type="title"/>
          </p:nvPr>
        </p:nvSpPr>
        <p:spPr>
          <a:xfrm>
            <a:off x="566928" y="1206945"/>
            <a:ext cx="10515600" cy="590931"/>
          </a:xfrm>
        </p:spPr>
        <p:txBody>
          <a:bodyPr/>
          <a:lstStyle/>
          <a:p>
            <a:r>
              <a:rPr lang="en-US" dirty="0"/>
              <a:t>Double Content Slide</a:t>
            </a:r>
          </a:p>
        </p:txBody>
      </p:sp>
      <p:sp>
        <p:nvSpPr>
          <p:cNvPr id="3" name="Side Text - Column 1">
            <a:extLst>
              <a:ext uri="{FF2B5EF4-FFF2-40B4-BE49-F238E27FC236}">
                <a16:creationId xmlns:a16="http://schemas.microsoft.com/office/drawing/2014/main" id="{38025F87-E395-E545-BB3A-BF62703CCBBB}"/>
              </a:ext>
            </a:extLst>
          </p:cNvPr>
          <p:cNvSpPr>
            <a:spLocks noGrp="1"/>
          </p:cNvSpPr>
          <p:nvPr>
            <p:ph sz="half" idx="1"/>
          </p:nvPr>
        </p:nvSpPr>
        <p:spPr>
          <a:xfrm>
            <a:off x="566927" y="1844605"/>
            <a:ext cx="5017796" cy="4485941"/>
          </a:xfrm>
        </p:spPr>
        <p:txBody>
          <a:bodyPr/>
          <a:lstStyle/>
          <a:p>
            <a:pPr marL="0" indent="0">
              <a:buNone/>
            </a:pPr>
            <a:r>
              <a:rPr lang="en-IN" sz="2400" b="1" dirty="0"/>
              <a:t>Technical Architecture </a:t>
            </a:r>
          </a:p>
          <a:p>
            <a:pPr marL="0" indent="0">
              <a:buNone/>
            </a:pPr>
            <a:r>
              <a:rPr lang="en-IN" dirty="0"/>
              <a:t>The system uses an </a:t>
            </a:r>
            <a:r>
              <a:rPr lang="en-IN" b="1" dirty="0"/>
              <a:t>ESP32 microcontroller</a:t>
            </a:r>
            <a:r>
              <a:rPr lang="en-IN" dirty="0"/>
              <a:t> connected to voltage, current, temperature, and light sensors to monitor solar panel performance. The generated power is calculated using voltage and current measurements. If the measured values exceed predefined limits, the LED and buzzer are activated to indicate a fault. Sensor data is transmitted through Wi-Fi to an IoT dashboard for real-time monitoring.</a:t>
            </a:r>
            <a:endParaRPr lang="en-US" dirty="0"/>
          </a:p>
        </p:txBody>
      </p:sp>
      <p:sp>
        <p:nvSpPr>
          <p:cNvPr id="15" name="Slide Number">
            <a:extLst>
              <a:ext uri="{FF2B5EF4-FFF2-40B4-BE49-F238E27FC236}">
                <a16:creationId xmlns:a16="http://schemas.microsoft.com/office/drawing/2014/main" id="{A6790C53-F8BB-DF4A-8361-919F8B7F69D9}"/>
              </a:ext>
            </a:extLst>
          </p:cNvPr>
          <p:cNvSpPr>
            <a:spLocks noGrp="1"/>
          </p:cNvSpPr>
          <p:nvPr>
            <p:ph type="ftr" sz="quarter" idx="10"/>
          </p:nvPr>
        </p:nvSpPr>
        <p:spPr/>
        <p:txBody>
          <a:bodyPr/>
          <a:lstStyle/>
          <a:p>
            <a:fld id="{7FF4D5E0-956F-9742-9135-6CCBA6AE77D9}" type="slidenum">
              <a:rPr lang="en-US" smtClean="0"/>
              <a:t>3</a:t>
            </a:fld>
            <a:endParaRPr lang="en-US" dirty="0"/>
          </a:p>
        </p:txBody>
      </p:sp>
      <p:sp>
        <p:nvSpPr>
          <p:cNvPr id="5" name="Rectangle 4">
            <a:extLst>
              <a:ext uri="{FF2B5EF4-FFF2-40B4-BE49-F238E27FC236}">
                <a16:creationId xmlns:a16="http://schemas.microsoft.com/office/drawing/2014/main" id="{D92C6FD2-673C-D83E-C716-1C989A6761E8}"/>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15E68AEA-E1B7-F441-CC54-52CAA052A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7">
            <a:extLst>
              <a:ext uri="{FF2B5EF4-FFF2-40B4-BE49-F238E27FC236}">
                <a16:creationId xmlns:a16="http://schemas.microsoft.com/office/drawing/2014/main" id="{9C5FC65B-DEB7-A117-59BA-FFC3E56C2A8A}"/>
              </a:ext>
            </a:extLst>
          </p:cNvPr>
          <p:cNvSpPr>
            <a:spLocks noGrp="1"/>
          </p:cNvSpPr>
          <p:nvPr>
            <p:ph sz="half" idx="2"/>
          </p:nvPr>
        </p:nvSpPr>
        <p:spPr>
          <a:xfrm>
            <a:off x="5824728" y="1822797"/>
            <a:ext cx="6341806" cy="4483285"/>
          </a:xfrm>
        </p:spPr>
        <p:txBody>
          <a:bodyPr/>
          <a:lstStyle/>
          <a:p>
            <a:pPr marL="0" indent="0">
              <a:buNone/>
            </a:pPr>
            <a:r>
              <a:rPr lang="en-IN" sz="2400" b="1" dirty="0"/>
              <a:t>User Value &amp; Impact</a:t>
            </a:r>
          </a:p>
          <a:p>
            <a:pPr marL="0" indent="0">
              <a:buNone/>
            </a:pPr>
            <a:r>
              <a:rPr lang="en-IN" dirty="0"/>
              <a:t>This system improves solar energy monitoring by providing automatic fault detection and real-time data. It helps identify abnormal conditions quickly, reduces manual inspection, and improves the efficiency and reliability of solar power systems.</a:t>
            </a:r>
          </a:p>
        </p:txBody>
      </p:sp>
    </p:spTree>
    <p:extLst>
      <p:ext uri="{BB962C8B-B14F-4D97-AF65-F5344CB8AC3E}">
        <p14:creationId xmlns:p14="http://schemas.microsoft.com/office/powerpoint/2010/main" val="2873966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88DBE833-A922-5747-A36B-4314D3116822}"/>
              </a:ext>
            </a:extLst>
          </p:cNvPr>
          <p:cNvSpPr>
            <a:spLocks noGrp="1"/>
          </p:cNvSpPr>
          <p:nvPr>
            <p:ph type="title"/>
          </p:nvPr>
        </p:nvSpPr>
        <p:spPr>
          <a:xfrm>
            <a:off x="566928" y="1270519"/>
            <a:ext cx="6951472" cy="590931"/>
          </a:xfrm>
        </p:spPr>
        <p:txBody>
          <a:bodyPr/>
          <a:lstStyle/>
          <a:p>
            <a:r>
              <a:rPr lang="en-US" dirty="0"/>
              <a:t>Bulleted List Slide</a:t>
            </a:r>
          </a:p>
        </p:txBody>
      </p:sp>
      <p:sp>
        <p:nvSpPr>
          <p:cNvPr id="8" name="Slide Number">
            <a:extLst>
              <a:ext uri="{FF2B5EF4-FFF2-40B4-BE49-F238E27FC236}">
                <a16:creationId xmlns:a16="http://schemas.microsoft.com/office/drawing/2014/main" id="{1E758566-FAE7-1B41-AABE-FDB3CDFB0BC2}"/>
              </a:ext>
            </a:extLst>
          </p:cNvPr>
          <p:cNvSpPr>
            <a:spLocks noGrp="1"/>
          </p:cNvSpPr>
          <p:nvPr>
            <p:ph type="ftr" sz="quarter" idx="10"/>
          </p:nvPr>
        </p:nvSpPr>
        <p:spPr/>
        <p:txBody>
          <a:bodyPr/>
          <a:lstStyle/>
          <a:p>
            <a:fld id="{FF97EF4A-40C6-024D-A945-B03D1BBD02F7}" type="slidenum">
              <a:rPr lang="en-US" smtClean="0"/>
              <a:t>4</a:t>
            </a:fld>
            <a:endParaRPr lang="en-US" dirty="0"/>
          </a:p>
        </p:txBody>
      </p:sp>
      <p:sp>
        <p:nvSpPr>
          <p:cNvPr id="5" name="Content Placeholder 4">
            <a:extLst>
              <a:ext uri="{FF2B5EF4-FFF2-40B4-BE49-F238E27FC236}">
                <a16:creationId xmlns:a16="http://schemas.microsoft.com/office/drawing/2014/main" id="{BDBD5515-6276-4881-A3CD-953AD66FA3AD}"/>
              </a:ext>
            </a:extLst>
          </p:cNvPr>
          <p:cNvSpPr>
            <a:spLocks noGrp="1"/>
          </p:cNvSpPr>
          <p:nvPr>
            <p:ph idx="1"/>
          </p:nvPr>
        </p:nvSpPr>
        <p:spPr>
          <a:xfrm>
            <a:off x="645586" y="2115449"/>
            <a:ext cx="11304149" cy="4742551"/>
          </a:xfrm>
        </p:spPr>
        <p:txBody>
          <a:bodyPr/>
          <a:lstStyle/>
          <a:p>
            <a:pPr marL="0" indent="0">
              <a:buNone/>
            </a:pPr>
            <a:r>
              <a:rPr lang="en-IN" sz="2000" dirty="0"/>
              <a:t>• </a:t>
            </a:r>
            <a:r>
              <a:rPr lang="en-IN" sz="2000" b="1" dirty="0"/>
              <a:t>ESP32 Microcontroller</a:t>
            </a:r>
            <a:r>
              <a:rPr lang="en-IN" sz="2000" dirty="0"/>
              <a:t> – Main controller</a:t>
            </a:r>
            <a:br>
              <a:rPr lang="en-IN" sz="2000" dirty="0"/>
            </a:br>
            <a:r>
              <a:rPr lang="en-IN" sz="2000" dirty="0"/>
              <a:t>• </a:t>
            </a:r>
            <a:r>
              <a:rPr lang="en-IN" sz="2000" b="1" dirty="0"/>
              <a:t>Solar Panel</a:t>
            </a:r>
            <a:r>
              <a:rPr lang="en-IN" sz="2000" dirty="0"/>
              <a:t> – Solar energy generation</a:t>
            </a:r>
            <a:br>
              <a:rPr lang="en-IN" sz="2000" dirty="0"/>
            </a:br>
            <a:r>
              <a:rPr lang="en-IN" sz="2000" dirty="0"/>
              <a:t>• </a:t>
            </a:r>
            <a:r>
              <a:rPr lang="en-IN" sz="2000" b="1" dirty="0"/>
              <a:t>INA219 Sensor</a:t>
            </a:r>
            <a:r>
              <a:rPr lang="en-IN" sz="2000" dirty="0"/>
              <a:t> – Voltage and current measurement</a:t>
            </a:r>
            <a:br>
              <a:rPr lang="en-IN" sz="2000" dirty="0"/>
            </a:br>
            <a:r>
              <a:rPr lang="en-IN" sz="2000" dirty="0"/>
              <a:t>• </a:t>
            </a:r>
            <a:r>
              <a:rPr lang="en-IN" sz="2000" b="1" dirty="0"/>
              <a:t>DHT22 Sensor</a:t>
            </a:r>
            <a:r>
              <a:rPr lang="en-IN" sz="2000" dirty="0"/>
              <a:t> – Temperature monitoring</a:t>
            </a:r>
            <a:br>
              <a:rPr lang="en-IN" sz="2000" dirty="0"/>
            </a:br>
            <a:r>
              <a:rPr lang="en-IN" sz="2000" dirty="0"/>
              <a:t>• </a:t>
            </a:r>
            <a:r>
              <a:rPr lang="en-IN" sz="2000" b="1" dirty="0"/>
              <a:t>LDR Sensor</a:t>
            </a:r>
            <a:r>
              <a:rPr lang="en-IN" sz="2000" dirty="0"/>
              <a:t> – Sunlight intensity measurement</a:t>
            </a:r>
            <a:br>
              <a:rPr lang="en-IN" sz="2000" dirty="0"/>
            </a:br>
            <a:r>
              <a:rPr lang="en-IN" sz="2000" dirty="0"/>
              <a:t>• </a:t>
            </a:r>
            <a:r>
              <a:rPr lang="en-IN" sz="2000" b="1" dirty="0"/>
              <a:t>12V Battery</a:t>
            </a:r>
            <a:r>
              <a:rPr lang="en-IN" sz="2000" dirty="0"/>
              <a:t> – Energy storage</a:t>
            </a:r>
            <a:br>
              <a:rPr lang="en-IN" sz="2000" dirty="0"/>
            </a:br>
            <a:r>
              <a:rPr lang="en-IN" sz="2000" dirty="0"/>
              <a:t>• </a:t>
            </a:r>
            <a:r>
              <a:rPr lang="en-IN" sz="2000" b="1" dirty="0"/>
              <a:t>LED &amp; Buzzer</a:t>
            </a:r>
            <a:r>
              <a:rPr lang="en-IN" sz="2000" dirty="0"/>
              <a:t> – Fault indication</a:t>
            </a:r>
            <a:br>
              <a:rPr lang="en-IN" sz="2000" dirty="0"/>
            </a:br>
            <a:r>
              <a:rPr lang="en-IN" sz="2000" dirty="0"/>
              <a:t>• </a:t>
            </a:r>
            <a:r>
              <a:rPr lang="en-IN" sz="2000" b="1" dirty="0"/>
              <a:t>Wi-Fi Connectivity</a:t>
            </a:r>
            <a:r>
              <a:rPr lang="en-IN" sz="2000" dirty="0"/>
              <a:t> – Real-time IoT communication</a:t>
            </a:r>
            <a:br>
              <a:rPr lang="en-IN" sz="2000" dirty="0"/>
            </a:br>
            <a:r>
              <a:rPr lang="en-IN" sz="2000" dirty="0"/>
              <a:t>• </a:t>
            </a:r>
            <a:r>
              <a:rPr lang="en-IN" sz="2000" b="1" dirty="0"/>
              <a:t>Blynk IoT Dashboard</a:t>
            </a:r>
            <a:r>
              <a:rPr lang="en-IN" sz="2000" dirty="0"/>
              <a:t> – Remote monitoring</a:t>
            </a:r>
            <a:br>
              <a:rPr lang="en-IN" sz="2000" dirty="0"/>
            </a:br>
            <a:r>
              <a:rPr lang="en-IN" sz="2000" dirty="0"/>
              <a:t>• </a:t>
            </a:r>
            <a:r>
              <a:rPr lang="en-IN" sz="2000" b="1" dirty="0"/>
              <a:t>Automatic Fault Detection</a:t>
            </a:r>
            <a:r>
              <a:rPr lang="en-IN" sz="2000" dirty="0"/>
              <a:t> – Identifies abnormal conditions</a:t>
            </a:r>
          </a:p>
        </p:txBody>
      </p:sp>
      <p:sp>
        <p:nvSpPr>
          <p:cNvPr id="6" name="Rectangle 5">
            <a:extLst>
              <a:ext uri="{FF2B5EF4-FFF2-40B4-BE49-F238E27FC236}">
                <a16:creationId xmlns:a16="http://schemas.microsoft.com/office/drawing/2014/main" id="{0EAA5F49-DDB8-A757-9699-BF1EF25BB02F}"/>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7" name="Picture 2" descr="Knowledge Institute of Technology – Salem Tamilnadu">
            <a:extLst>
              <a:ext uri="{FF2B5EF4-FFF2-40B4-BE49-F238E27FC236}">
                <a16:creationId xmlns:a16="http://schemas.microsoft.com/office/drawing/2014/main" id="{A354C783-D22D-33EA-3878-74D4D22945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677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A5A6BD9C-352C-594C-84C3-B534C6BE8173}"/>
              </a:ext>
            </a:extLst>
          </p:cNvPr>
          <p:cNvSpPr>
            <a:spLocks noGrp="1"/>
          </p:cNvSpPr>
          <p:nvPr>
            <p:ph type="title"/>
          </p:nvPr>
        </p:nvSpPr>
        <p:spPr>
          <a:xfrm>
            <a:off x="565341" y="1019358"/>
            <a:ext cx="10515600" cy="590931"/>
          </a:xfrm>
        </p:spPr>
        <p:txBody>
          <a:bodyPr/>
          <a:lstStyle/>
          <a:p>
            <a:r>
              <a:rPr lang="en-US" dirty="0"/>
              <a:t>Comparison Slide</a:t>
            </a:r>
          </a:p>
        </p:txBody>
      </p:sp>
      <p:sp>
        <p:nvSpPr>
          <p:cNvPr id="13" name="Compare Section">
            <a:extLst>
              <a:ext uri="{FF2B5EF4-FFF2-40B4-BE49-F238E27FC236}">
                <a16:creationId xmlns:a16="http://schemas.microsoft.com/office/drawing/2014/main" id="{384880BB-377B-F24A-A7CA-B308CACEC9E0}"/>
              </a:ext>
            </a:extLst>
          </p:cNvPr>
          <p:cNvSpPr>
            <a:spLocks noGrp="1"/>
          </p:cNvSpPr>
          <p:nvPr>
            <p:ph type="body" idx="1"/>
          </p:nvPr>
        </p:nvSpPr>
        <p:spPr>
          <a:xfrm>
            <a:off x="566928" y="1630618"/>
            <a:ext cx="5138928" cy="450829"/>
          </a:xfrm>
        </p:spPr>
        <p:txBody>
          <a:bodyPr/>
          <a:lstStyle/>
          <a:p>
            <a:r>
              <a:rPr lang="en-US" sz="2000" dirty="0"/>
              <a:t>Compare Section</a:t>
            </a:r>
          </a:p>
        </p:txBody>
      </p:sp>
      <p:sp>
        <p:nvSpPr>
          <p:cNvPr id="14" name="Compare Section - Text">
            <a:extLst>
              <a:ext uri="{FF2B5EF4-FFF2-40B4-BE49-F238E27FC236}">
                <a16:creationId xmlns:a16="http://schemas.microsoft.com/office/drawing/2014/main" id="{48B0953F-74D7-0140-8C86-93FC4F66A37B}"/>
              </a:ext>
            </a:extLst>
          </p:cNvPr>
          <p:cNvSpPr>
            <a:spLocks noGrp="1"/>
          </p:cNvSpPr>
          <p:nvPr>
            <p:ph sz="half" idx="2"/>
          </p:nvPr>
        </p:nvSpPr>
        <p:spPr>
          <a:xfrm>
            <a:off x="565341" y="2151984"/>
            <a:ext cx="4222969" cy="3535744"/>
          </a:xfrm>
        </p:spPr>
        <p:txBody>
          <a:bodyPr/>
          <a:lstStyle/>
          <a:p>
            <a:pPr marL="0" indent="0" algn="just">
              <a:spcAft>
                <a:spcPts val="600"/>
              </a:spcAft>
              <a:buNone/>
            </a:pPr>
            <a:r>
              <a:rPr lang="en-IN" sz="2000" dirty="0"/>
              <a:t>Similar to existing solar monitoring systems, this project focuses on monitoring solar panel performance by measuring voltage, current, power, and temperature. It helps users understand the operating condition of the solar power system.</a:t>
            </a:r>
            <a:endParaRPr lang="en-US" sz="2000" dirty="0"/>
          </a:p>
        </p:txBody>
      </p:sp>
      <p:sp>
        <p:nvSpPr>
          <p:cNvPr id="15" name="Contrast Section">
            <a:extLst>
              <a:ext uri="{FF2B5EF4-FFF2-40B4-BE49-F238E27FC236}">
                <a16:creationId xmlns:a16="http://schemas.microsoft.com/office/drawing/2014/main" id="{E0F9A328-ECA9-CC4E-B0A6-FA23EEE9998F}"/>
              </a:ext>
            </a:extLst>
          </p:cNvPr>
          <p:cNvSpPr>
            <a:spLocks noGrp="1"/>
          </p:cNvSpPr>
          <p:nvPr>
            <p:ph type="body" sz="quarter" idx="3"/>
          </p:nvPr>
        </p:nvSpPr>
        <p:spPr>
          <a:xfrm>
            <a:off x="5456215" y="1624978"/>
            <a:ext cx="6168857" cy="450829"/>
          </a:xfrm>
        </p:spPr>
        <p:txBody>
          <a:bodyPr/>
          <a:lstStyle/>
          <a:p>
            <a:r>
              <a:rPr lang="en-US" sz="2000" dirty="0"/>
              <a:t>Contrast Section</a:t>
            </a:r>
          </a:p>
        </p:txBody>
      </p:sp>
      <p:sp>
        <p:nvSpPr>
          <p:cNvPr id="16" name="Contrast Section - Text">
            <a:extLst>
              <a:ext uri="{FF2B5EF4-FFF2-40B4-BE49-F238E27FC236}">
                <a16:creationId xmlns:a16="http://schemas.microsoft.com/office/drawing/2014/main" id="{2EBC524D-C050-3F4A-88E2-E7EBEEE90AF0}"/>
              </a:ext>
            </a:extLst>
          </p:cNvPr>
          <p:cNvSpPr>
            <a:spLocks noGrp="1"/>
          </p:cNvSpPr>
          <p:nvPr>
            <p:ph sz="quarter" idx="4"/>
          </p:nvPr>
        </p:nvSpPr>
        <p:spPr>
          <a:xfrm>
            <a:off x="5456215" y="2101776"/>
            <a:ext cx="6571291" cy="3538728"/>
          </a:xfrm>
        </p:spPr>
        <p:txBody>
          <a:bodyPr/>
          <a:lstStyle/>
          <a:p>
            <a:pPr marL="0" indent="0">
              <a:buNone/>
            </a:pPr>
            <a:r>
              <a:rPr lang="en-IN" sz="2000" dirty="0"/>
              <a:t>Unlike traditional solar systems that require manual checking, this system provides </a:t>
            </a:r>
            <a:r>
              <a:rPr lang="en-IN" sz="2000" b="1" dirty="0"/>
              <a:t>real-time IoT-based monitoring and automatic fault alerts</a:t>
            </a:r>
            <a:r>
              <a:rPr lang="en-IN" sz="2000" dirty="0"/>
              <a:t>. It continuously checks the solar parameters and activates LED and buzzer warnings when abnormal conditions are detected.</a:t>
            </a:r>
          </a:p>
          <a:p>
            <a:pPr marL="0" indent="0" algn="just">
              <a:buNone/>
            </a:pPr>
            <a:endParaRPr lang="en-US" sz="2000" dirty="0"/>
          </a:p>
        </p:txBody>
      </p:sp>
      <p:sp>
        <p:nvSpPr>
          <p:cNvPr id="23" name="Slide Number">
            <a:extLst>
              <a:ext uri="{FF2B5EF4-FFF2-40B4-BE49-F238E27FC236}">
                <a16:creationId xmlns:a16="http://schemas.microsoft.com/office/drawing/2014/main" id="{692346D0-C19D-754C-B7FB-4EEAD59AF4EB}"/>
              </a:ext>
            </a:extLst>
          </p:cNvPr>
          <p:cNvSpPr>
            <a:spLocks noGrp="1"/>
          </p:cNvSpPr>
          <p:nvPr>
            <p:ph type="ftr" sz="quarter" idx="10"/>
          </p:nvPr>
        </p:nvSpPr>
        <p:spPr/>
        <p:txBody>
          <a:bodyPr/>
          <a:lstStyle/>
          <a:p>
            <a:fld id="{11612D8C-0CE2-8F48-B865-A1C7EEB20945}" type="slidenum">
              <a:rPr lang="en-US" smtClean="0"/>
              <a:t>5</a:t>
            </a:fld>
            <a:endParaRPr lang="en-US" dirty="0"/>
          </a:p>
        </p:txBody>
      </p:sp>
      <p:sp>
        <p:nvSpPr>
          <p:cNvPr id="2" name="Rectangle 1">
            <a:extLst>
              <a:ext uri="{FF2B5EF4-FFF2-40B4-BE49-F238E27FC236}">
                <a16:creationId xmlns:a16="http://schemas.microsoft.com/office/drawing/2014/main" id="{DC1D069B-0F58-C58D-35EC-4C6DB3F00376}"/>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3" name="Picture 2" descr="Knowledge Institute of Technology – Salem Tamilnadu">
            <a:extLst>
              <a:ext uri="{FF2B5EF4-FFF2-40B4-BE49-F238E27FC236}">
                <a16:creationId xmlns:a16="http://schemas.microsoft.com/office/drawing/2014/main" id="{CE1C2C29-CE5B-056E-24FC-D9D195ED3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57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3AC14BE6-0C46-714B-B7A3-48A9E49BAF81}"/>
              </a:ext>
            </a:extLst>
          </p:cNvPr>
          <p:cNvSpPr>
            <a:spLocks noGrp="1"/>
          </p:cNvSpPr>
          <p:nvPr>
            <p:ph type="title"/>
          </p:nvPr>
        </p:nvSpPr>
        <p:spPr>
          <a:xfrm>
            <a:off x="321572" y="1068572"/>
            <a:ext cx="4248912" cy="590931"/>
          </a:xfrm>
        </p:spPr>
        <p:txBody>
          <a:bodyPr/>
          <a:lstStyle/>
          <a:p>
            <a:r>
              <a:rPr lang="en-US" dirty="0"/>
              <a:t>Prototype</a:t>
            </a:r>
          </a:p>
        </p:txBody>
      </p:sp>
      <p:sp>
        <p:nvSpPr>
          <p:cNvPr id="3" name="Slide Text">
            <a:extLst>
              <a:ext uri="{FF2B5EF4-FFF2-40B4-BE49-F238E27FC236}">
                <a16:creationId xmlns:a16="http://schemas.microsoft.com/office/drawing/2014/main" id="{4229366B-9DFE-0244-A864-A3ECC8897F6F}"/>
              </a:ext>
            </a:extLst>
          </p:cNvPr>
          <p:cNvSpPr>
            <a:spLocks noGrp="1"/>
          </p:cNvSpPr>
          <p:nvPr>
            <p:ph idx="1"/>
          </p:nvPr>
        </p:nvSpPr>
        <p:spPr>
          <a:xfrm>
            <a:off x="213868" y="1666529"/>
            <a:ext cx="5036558" cy="4634165"/>
          </a:xfrm>
        </p:spPr>
        <p:txBody>
          <a:bodyPr/>
          <a:lstStyle/>
          <a:p>
            <a:r>
              <a:rPr lang="en-IN" dirty="0"/>
              <a:t>Prototype built using </a:t>
            </a:r>
            <a:r>
              <a:rPr lang="en-IN" b="1" dirty="0"/>
              <a:t>ESP32 as the main controller</a:t>
            </a:r>
            <a:r>
              <a:rPr lang="en-IN" dirty="0"/>
              <a:t> with INA219 sensor for solar voltage and current monitoring.</a:t>
            </a:r>
          </a:p>
          <a:p>
            <a:r>
              <a:rPr lang="en-IN" dirty="0"/>
              <a:t>DHT22 sensor is used to monitor temperature, while an LDR is used to measure sunlight intensity.</a:t>
            </a:r>
          </a:p>
          <a:p>
            <a:r>
              <a:rPr lang="en-IN" dirty="0"/>
              <a:t>LED and buzzer provide alerts when abnormal solar conditions or faults are detected.</a:t>
            </a:r>
          </a:p>
          <a:p>
            <a:r>
              <a:rPr lang="en-IN" dirty="0"/>
              <a:t>Compact and portable setup powered through USB for easy demonstration.</a:t>
            </a:r>
          </a:p>
          <a:p>
            <a:pPr marL="0" indent="0">
              <a:spcAft>
                <a:spcPts val="600"/>
              </a:spcAft>
              <a:buNone/>
            </a:pPr>
            <a:endParaRPr lang="en-US" dirty="0"/>
          </a:p>
        </p:txBody>
      </p:sp>
      <p:sp>
        <p:nvSpPr>
          <p:cNvPr id="5" name="Rectangle 4">
            <a:extLst>
              <a:ext uri="{FF2B5EF4-FFF2-40B4-BE49-F238E27FC236}">
                <a16:creationId xmlns:a16="http://schemas.microsoft.com/office/drawing/2014/main" id="{12435FF2-28C8-2D2D-BDEB-0C5DCD1A98EC}"/>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a:extLst>
              <a:ext uri="{FF2B5EF4-FFF2-40B4-BE49-F238E27FC236}">
                <a16:creationId xmlns:a16="http://schemas.microsoft.com/office/drawing/2014/main" id="{26419DA3-9A42-55A5-4228-4E21C30A8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73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D8FCB22-2DC7-E144-8B90-49F436AB4F01}"/>
              </a:ext>
            </a:extLst>
          </p:cNvPr>
          <p:cNvSpPr>
            <a:spLocks noGrp="1"/>
          </p:cNvSpPr>
          <p:nvPr>
            <p:ph type="title"/>
          </p:nvPr>
        </p:nvSpPr>
        <p:spPr>
          <a:xfrm>
            <a:off x="566928" y="1288968"/>
            <a:ext cx="5135372" cy="490347"/>
          </a:xfrm>
        </p:spPr>
        <p:txBody>
          <a:bodyPr/>
          <a:lstStyle/>
          <a:p>
            <a:r>
              <a:rPr lang="en-US" dirty="0"/>
              <a:t>Detection Breakdown</a:t>
            </a:r>
          </a:p>
        </p:txBody>
      </p:sp>
      <p:sp>
        <p:nvSpPr>
          <p:cNvPr id="7" name="Slide Number">
            <a:extLst>
              <a:ext uri="{FF2B5EF4-FFF2-40B4-BE49-F238E27FC236}">
                <a16:creationId xmlns:a16="http://schemas.microsoft.com/office/drawing/2014/main" id="{185F3C10-40FA-5845-8029-D5490ECDA88F}"/>
              </a:ext>
            </a:extLst>
          </p:cNvPr>
          <p:cNvSpPr>
            <a:spLocks noGrp="1"/>
          </p:cNvSpPr>
          <p:nvPr>
            <p:ph type="ftr" sz="quarter" idx="17"/>
          </p:nvPr>
        </p:nvSpPr>
        <p:spPr/>
        <p:txBody>
          <a:bodyPr/>
          <a:lstStyle/>
          <a:p>
            <a:fld id="{85954F8D-B7E6-D640-BC50-D014E954A05D}" type="slidenum">
              <a:rPr lang="en-US" smtClean="0"/>
              <a:t>7</a:t>
            </a:fld>
            <a:endParaRPr lang="en-US" dirty="0"/>
          </a:p>
        </p:txBody>
      </p:sp>
      <p:sp>
        <p:nvSpPr>
          <p:cNvPr id="21" name="Rectangle 20">
            <a:extLst>
              <a:ext uri="{FF2B5EF4-FFF2-40B4-BE49-F238E27FC236}">
                <a16:creationId xmlns:a16="http://schemas.microsoft.com/office/drawing/2014/main" id="{F450BACB-BAD2-B811-AEB3-0D7478CF0CFD}"/>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a:extLst>
              <a:ext uri="{FF2B5EF4-FFF2-40B4-BE49-F238E27FC236}">
                <a16:creationId xmlns:a16="http://schemas.microsoft.com/office/drawing/2014/main" id="{245FC4DD-935D-244C-F1FD-8A9F36222F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2B18625A-112E-464F-ACA3-9912D8075796}"/>
              </a:ext>
            </a:extLst>
          </p:cNvPr>
          <p:cNvGraphicFramePr>
            <a:graphicFrameLocks noGrp="1"/>
          </p:cNvGraphicFramePr>
          <p:nvPr>
            <p:extLst>
              <p:ext uri="{D42A27DB-BD31-4B8C-83A1-F6EECF244321}">
                <p14:modId xmlns:p14="http://schemas.microsoft.com/office/powerpoint/2010/main" val="367099910"/>
              </p:ext>
            </p:extLst>
          </p:nvPr>
        </p:nvGraphicFramePr>
        <p:xfrm>
          <a:off x="566929" y="2007476"/>
          <a:ext cx="10515599" cy="4184604"/>
        </p:xfrm>
        <a:graphic>
          <a:graphicData uri="http://schemas.openxmlformats.org/drawingml/2006/table">
            <a:tbl>
              <a:tblPr/>
              <a:tblGrid>
                <a:gridCol w="2221568">
                  <a:extLst>
                    <a:ext uri="{9D8B030D-6E8A-4147-A177-3AD203B41FA5}">
                      <a16:colId xmlns:a16="http://schemas.microsoft.com/office/drawing/2014/main" val="3801361345"/>
                    </a:ext>
                  </a:extLst>
                </a:gridCol>
                <a:gridCol w="2764677">
                  <a:extLst>
                    <a:ext uri="{9D8B030D-6E8A-4147-A177-3AD203B41FA5}">
                      <a16:colId xmlns:a16="http://schemas.microsoft.com/office/drawing/2014/main" val="2543861333"/>
                    </a:ext>
                  </a:extLst>
                </a:gridCol>
                <a:gridCol w="2764677">
                  <a:extLst>
                    <a:ext uri="{9D8B030D-6E8A-4147-A177-3AD203B41FA5}">
                      <a16:colId xmlns:a16="http://schemas.microsoft.com/office/drawing/2014/main" val="2301260947"/>
                    </a:ext>
                  </a:extLst>
                </a:gridCol>
                <a:gridCol w="2764677">
                  <a:extLst>
                    <a:ext uri="{9D8B030D-6E8A-4147-A177-3AD203B41FA5}">
                      <a16:colId xmlns:a16="http://schemas.microsoft.com/office/drawing/2014/main" val="4003633720"/>
                    </a:ext>
                  </a:extLst>
                </a:gridCol>
              </a:tblGrid>
              <a:tr h="643786">
                <a:tc>
                  <a:txBody>
                    <a:bodyPr/>
                    <a:lstStyle/>
                    <a:p>
                      <a:r>
                        <a:rPr lang="en-US" dirty="0"/>
                        <a:t>                                                </a:t>
                      </a:r>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2486259409"/>
                  </a:ext>
                </a:extLst>
              </a:tr>
              <a:tr h="643786">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3519809118"/>
                  </a:ext>
                </a:extLst>
              </a:tr>
              <a:tr h="643786">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225078474"/>
                  </a:ext>
                </a:extLst>
              </a:tr>
              <a:tr h="1126623">
                <a:tc>
                  <a:txBody>
                    <a:bodyPr/>
                    <a:lstStyle/>
                    <a:p>
                      <a:endParaRPr lang="en-US"/>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339451411"/>
                  </a:ext>
                </a:extLst>
              </a:tr>
              <a:tr h="1126623">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161375739"/>
                  </a:ext>
                </a:extLst>
              </a:tr>
            </a:tbl>
          </a:graphicData>
        </a:graphic>
      </p:graphicFrame>
      <p:pic>
        <p:nvPicPr>
          <p:cNvPr id="6" name="Picture 5">
            <a:extLst>
              <a:ext uri="{FF2B5EF4-FFF2-40B4-BE49-F238E27FC236}">
                <a16:creationId xmlns:a16="http://schemas.microsoft.com/office/drawing/2014/main" id="{C6C5455B-C945-D2C0-B8DC-638A1325BFF7}"/>
              </a:ext>
            </a:extLst>
          </p:cNvPr>
          <p:cNvPicPr>
            <a:picLocks noChangeAspect="1"/>
          </p:cNvPicPr>
          <p:nvPr/>
        </p:nvPicPr>
        <p:blipFill>
          <a:blip r:embed="rId3"/>
          <a:stretch>
            <a:fillRect/>
          </a:stretch>
        </p:blipFill>
        <p:spPr>
          <a:xfrm>
            <a:off x="952500" y="1858297"/>
            <a:ext cx="10287000" cy="4333784"/>
          </a:xfrm>
          <a:prstGeom prst="rect">
            <a:avLst/>
          </a:prstGeom>
        </p:spPr>
      </p:pic>
    </p:spTree>
    <p:extLst>
      <p:ext uri="{BB962C8B-B14F-4D97-AF65-F5344CB8AC3E}">
        <p14:creationId xmlns:p14="http://schemas.microsoft.com/office/powerpoint/2010/main" val="2921135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74204B13-12CE-5849-82EE-2A784C3AC220}"/>
              </a:ext>
            </a:extLst>
          </p:cNvPr>
          <p:cNvSpPr>
            <a:spLocks noGrp="1"/>
          </p:cNvSpPr>
          <p:nvPr>
            <p:ph type="ftr" sz="quarter" idx="10"/>
          </p:nvPr>
        </p:nvSpPr>
        <p:spPr/>
        <p:txBody>
          <a:bodyPr/>
          <a:lstStyle/>
          <a:p>
            <a:fld id="{EB53C135-CEC6-A548-8917-8F7FEB82358B}" type="slidenum">
              <a:rPr lang="en-US" smtClean="0"/>
              <a:pPr/>
              <a:t>8</a:t>
            </a:fld>
            <a:endParaRPr lang="en-US" dirty="0"/>
          </a:p>
        </p:txBody>
      </p:sp>
      <p:sp>
        <p:nvSpPr>
          <p:cNvPr id="56" name="Content Placeholder 55">
            <a:extLst>
              <a:ext uri="{FF2B5EF4-FFF2-40B4-BE49-F238E27FC236}">
                <a16:creationId xmlns:a16="http://schemas.microsoft.com/office/drawing/2014/main" id="{FCAC153A-38CE-CA14-5FC1-834EFDDF0301}"/>
              </a:ext>
            </a:extLst>
          </p:cNvPr>
          <p:cNvSpPr>
            <a:spLocks noGrp="1"/>
          </p:cNvSpPr>
          <p:nvPr>
            <p:ph idx="1"/>
          </p:nvPr>
        </p:nvSpPr>
        <p:spPr>
          <a:xfrm>
            <a:off x="566928" y="2229814"/>
            <a:ext cx="10137875" cy="3968249"/>
          </a:xfrm>
        </p:spPr>
        <p:txBody>
          <a:bodyPr/>
          <a:lstStyle/>
          <a:p>
            <a:pPr>
              <a:lnSpc>
                <a:spcPct val="200000"/>
              </a:lnSpc>
            </a:pPr>
            <a:r>
              <a:rPr lang="en-IN" dirty="0"/>
              <a:t>The </a:t>
            </a:r>
            <a:r>
              <a:rPr lang="en-IN" b="1" dirty="0"/>
              <a:t>Solar Power Generation Monitoring and Fault Detection Using IoT</a:t>
            </a:r>
            <a:r>
              <a:rPr lang="en-IN" dirty="0"/>
              <a:t> system continuously monitors solar panel voltage, current, power generation, temperature, and sunlight intensity.</a:t>
            </a:r>
          </a:p>
          <a:p>
            <a:pPr>
              <a:lnSpc>
                <a:spcPct val="200000"/>
              </a:lnSpc>
            </a:pPr>
            <a:r>
              <a:rPr lang="en-IN" dirty="0"/>
              <a:t>When abnormal conditions are detected, the system provides </a:t>
            </a:r>
            <a:r>
              <a:rPr lang="en-IN" b="1" dirty="0"/>
              <a:t>automatic LED and buzzer alerts</a:t>
            </a:r>
            <a:r>
              <a:rPr lang="en-IN" dirty="0"/>
              <a:t> and updates the IoT dashboard.</a:t>
            </a:r>
          </a:p>
          <a:p>
            <a:pPr>
              <a:lnSpc>
                <a:spcPct val="200000"/>
              </a:lnSpc>
            </a:pPr>
            <a:r>
              <a:rPr lang="en-IN" dirty="0"/>
              <a:t>It is a </a:t>
            </a:r>
            <a:r>
              <a:rPr lang="en-IN" b="1" dirty="0"/>
              <a:t>low-cost and effective solution</a:t>
            </a:r>
            <a:r>
              <a:rPr lang="en-IN" dirty="0"/>
              <a:t> that helps improve solar power system reliability, reduce manual monitoring, and support efficient maintenance.</a:t>
            </a:r>
          </a:p>
          <a:p>
            <a:pPr marL="0" indent="0">
              <a:buNone/>
            </a:pPr>
            <a:endParaRPr lang="en-US" dirty="0"/>
          </a:p>
        </p:txBody>
      </p:sp>
      <p:sp>
        <p:nvSpPr>
          <p:cNvPr id="58" name="Title 57">
            <a:extLst>
              <a:ext uri="{FF2B5EF4-FFF2-40B4-BE49-F238E27FC236}">
                <a16:creationId xmlns:a16="http://schemas.microsoft.com/office/drawing/2014/main" id="{3A9EFF2A-3D5F-B622-E440-9E0445FE1A0A}"/>
              </a:ext>
            </a:extLst>
          </p:cNvPr>
          <p:cNvSpPr>
            <a:spLocks noGrp="1"/>
          </p:cNvSpPr>
          <p:nvPr>
            <p:ph type="title"/>
          </p:nvPr>
        </p:nvSpPr>
        <p:spPr/>
        <p:txBody>
          <a:bodyPr/>
          <a:lstStyle/>
          <a:p>
            <a:r>
              <a:rPr lang="en-IN" dirty="0"/>
              <a:t>CONCLUSION</a:t>
            </a:r>
          </a:p>
        </p:txBody>
      </p:sp>
      <p:sp>
        <p:nvSpPr>
          <p:cNvPr id="59" name="Rectangle 58">
            <a:extLst>
              <a:ext uri="{FF2B5EF4-FFF2-40B4-BE49-F238E27FC236}">
                <a16:creationId xmlns:a16="http://schemas.microsoft.com/office/drawing/2014/main" id="{EDB0BD1B-638F-3CA9-D944-D5AA0B38D913}"/>
              </a:ext>
            </a:extLst>
          </p:cNvPr>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0" name="Picture 2" descr="Knowledge Institute of Technology – Salem Tamilnadu">
            <a:extLst>
              <a:ext uri="{FF2B5EF4-FFF2-40B4-BE49-F238E27FC236}">
                <a16:creationId xmlns:a16="http://schemas.microsoft.com/office/drawing/2014/main" id="{3843E347-A6B6-62FF-37CF-F04424D6C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88693"/>
      </p:ext>
    </p:extLst>
  </p:cSld>
  <p:clrMapOvr>
    <a:masterClrMapping/>
  </p:clrMapOvr>
</p:sld>
</file>

<file path=ppt/theme/theme1.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861</TotalTime>
  <Words>526</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Regular</vt:lpstr>
      <vt:lpstr>Georgia</vt:lpstr>
      <vt:lpstr>System Font Regular</vt:lpstr>
      <vt:lpstr>Office Theme</vt:lpstr>
      <vt:lpstr>SOLAR POWER GENERATION MONITORING AND FAULT DETECTION USING IoT</vt:lpstr>
      <vt:lpstr>SOLAR POWER GENERATION MONITORING AND FAULT DETECTION USING IoT</vt:lpstr>
      <vt:lpstr>Double Content Slide</vt:lpstr>
      <vt:lpstr>Bulleted List Slide</vt:lpstr>
      <vt:lpstr>Comparison Slide</vt:lpstr>
      <vt:lpstr>Prototype</vt:lpstr>
      <vt:lpstr>Detection Breakdown</vt:lpstr>
      <vt:lpstr>CONCLUSION</vt:lpstr>
    </vt:vector>
  </TitlesOfParts>
  <Manager/>
  <Company>University at Buffalo</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Presentation</dc:title>
  <dc:subject/>
  <dc:creator>Division of University Communications</dc:creator>
  <cp:keywords/>
  <dc:description/>
  <cp:lastModifiedBy>Naveen kumar R</cp:lastModifiedBy>
  <cp:revision>87</cp:revision>
  <dcterms:created xsi:type="dcterms:W3CDTF">2019-04-04T19:20:28Z</dcterms:created>
  <dcterms:modified xsi:type="dcterms:W3CDTF">2026-08-31T08:15:11Z</dcterms:modified>
  <cp:category/>
</cp:coreProperties>
</file>